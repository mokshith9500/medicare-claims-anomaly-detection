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3013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65403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7929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90331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2112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95915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26407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31537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72118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47044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00011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14656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7709279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13051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60602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63783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51287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05270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0700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3214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6E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515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Presentation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Catching Anomalous Providers in Medicare Claims:</a:t>
            </a:r>
            <a:endParaRPr lang="en-US" sz="3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Unsupervised Screen for Payment Integrity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Mokshit Anjani Sreekar Palleboina</a:t>
            </a:r>
            <a:endParaRPr lang="en-US" sz="2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M.S. Data Science, University of Colorado Boulder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53492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FE4E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Cotiviti Intern Screening  —  Topic 2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6E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972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just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problem</a:t>
            </a:r>
            <a:endParaRPr lang="en-US" sz="2100" dirty="0"/>
          </a:p>
          <a:p>
            <a:pPr marL="254000" indent="-254000" algn="just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approach</a:t>
            </a:r>
            <a:endParaRPr lang="en-US" sz="2100" dirty="0"/>
          </a:p>
          <a:p>
            <a:pPr marL="254000" indent="-254000" algn="just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 built</a:t>
            </a:r>
            <a:endParaRPr lang="en-US" sz="2100" dirty="0"/>
          </a:p>
          <a:p>
            <a:pPr marL="254000" indent="-254000" algn="just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review console</a:t>
            </a:r>
            <a:endParaRPr lang="en-US" sz="2100" dirty="0"/>
          </a:p>
          <a:p>
            <a:pPr marL="254000" indent="-254000" algn="just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</a:t>
            </a:r>
            <a:endParaRPr lang="en-US" sz="2100" dirty="0"/>
          </a:p>
          <a:p>
            <a:pPr marL="254000" indent="-254000" algn="just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</a:t>
            </a:r>
            <a:endParaRPr lang="en-US" sz="2100" dirty="0"/>
          </a:p>
          <a:p>
            <a:pPr marL="254000" indent="-254000" algn="just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Options for Cotiviti</a:t>
            </a:r>
            <a:endParaRPr lang="en-US" sz="2100" dirty="0"/>
          </a:p>
          <a:p>
            <a:pPr marL="254000" indent="-254000" algn="just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6419088"/>
            <a:ext cx="12161520" cy="438912"/>
          </a:xfrm>
          <a:prstGeom prst="rect">
            <a:avLst/>
          </a:prstGeom>
          <a:solidFill>
            <a:srgbClr val="0F6E6A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6446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83880" y="64465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Cotiviti Intern Screening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6E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972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just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Medicare paid out about $28.8 billion in improper payments in 2025.</a:t>
            </a:r>
            <a:endParaRPr lang="en-US" sz="2100" dirty="0"/>
          </a:p>
          <a:p>
            <a:pPr marL="254000" indent="-254000" algn="just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 are far too many providers for reviewers to check them all.</a:t>
            </a:r>
            <a:endParaRPr lang="en-US" sz="2100" dirty="0"/>
          </a:p>
          <a:p>
            <a:pPr marL="254000" indent="-254000" algn="just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real problem is deciding who to look at first.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6419088"/>
            <a:ext cx="12161520" cy="438912"/>
          </a:xfrm>
          <a:prstGeom prst="rect">
            <a:avLst/>
          </a:prstGeom>
          <a:solidFill>
            <a:srgbClr val="0F6E6A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6446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83880" y="64465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Cotiviti Intern Screening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6E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972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just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supervised model learns from confirmed-fraud labels, so it only catches schemes that were already caught and labeled.</a:t>
            </a:r>
            <a:endParaRPr lang="en-US" sz="2100" dirty="0"/>
          </a:p>
          <a:p>
            <a:pPr marL="254000" indent="-254000" algn="just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screen is unsupervised. It scores every provider by how far its billing behavior sits from its peers.</a:t>
            </a:r>
            <a:endParaRPr lang="en-US" sz="2100" dirty="0"/>
          </a:p>
          <a:p>
            <a:pPr marL="254000" indent="-254000" algn="just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Because it does not need labels, it can flag new schemes before anyone has labeled them.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6419088"/>
            <a:ext cx="12161520" cy="438912"/>
          </a:xfrm>
          <a:prstGeom prst="rect">
            <a:avLst/>
          </a:prstGeom>
          <a:solidFill>
            <a:srgbClr val="0F6E6A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6446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83880" y="64465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Cotiviti Intern Screening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6E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Built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972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just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provider is rolled into one row, described with behavioral ratios instead of raw size.</a:t>
            </a:r>
            <a:endParaRPr lang="en-US" sz="2100" dirty="0"/>
          </a:p>
          <a:p>
            <a:pPr marL="254000" indent="-254000" algn="just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detectors, HDBSCAN and Isolation Forest, score each provider and are combined by rank.</a:t>
            </a:r>
            <a:endParaRPr lang="en-US" sz="2100" dirty="0"/>
          </a:p>
          <a:p>
            <a:pPr marL="254000" indent="-254000" algn="just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output is a ranked review queue of the riskiest providers.</a:t>
            </a:r>
            <a:endParaRPr lang="en-US" sz="2100" dirty="0"/>
          </a:p>
          <a:p>
            <a:pPr marL="254000" indent="-254000" algn="just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LLM then explains each flag in plain language for the reviewer.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6419088"/>
            <a:ext cx="12161520" cy="438912"/>
          </a:xfrm>
          <a:prstGeom prst="rect">
            <a:avLst/>
          </a:prstGeom>
          <a:solidFill>
            <a:srgbClr val="0F6E6A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6446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83880" y="64465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Cotiviti Intern Screening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6E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Review Console</a:t>
            </a:r>
            <a:endParaRPr lang="en-US" sz="3200" dirty="0"/>
          </a:p>
        </p:txBody>
      </p:sp>
      <p:pic>
        <p:nvPicPr>
          <p:cNvPr id="3" name="Image 0" descr="conso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1371600"/>
            <a:ext cx="8595360" cy="42690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 a flagged provider, read why it was flagged, and generate a briefing.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0" y="6419088"/>
            <a:ext cx="12161520" cy="438912"/>
          </a:xfrm>
          <a:prstGeom prst="rect">
            <a:avLst/>
          </a:prstGeom>
          <a:solidFill>
            <a:srgbClr val="0F6E6A"/>
          </a:solidFill>
          <a:ln/>
        </p:spPr>
      </p:sp>
      <p:sp>
        <p:nvSpPr>
          <p:cNvPr id="6" name="Text 3"/>
          <p:cNvSpPr/>
          <p:nvPr/>
        </p:nvSpPr>
        <p:spPr>
          <a:xfrm>
            <a:off x="320040" y="6446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183880" y="64465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Cotiviti Intern Screening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6E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5852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2.1x lift over the base rate, measured out of sample.</a:t>
            </a:r>
            <a:endParaRPr lang="en-US" sz="2000" dirty="0"/>
          </a:p>
          <a:p>
            <a:pPr marL="254000" indent="-254000" algn="l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43% of the fraud caught in the top 10% of the queue.</a:t>
            </a:r>
            <a:endParaRPr lang="en-US" sz="2000" dirty="0"/>
          </a:p>
          <a:p>
            <a:pPr marL="254000" indent="-254000" algn="l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supervised baseline reaches 6.3x. It has labels; this screen does not.</a:t>
            </a:r>
            <a:endParaRPr lang="en-US" sz="2000" dirty="0"/>
          </a:p>
          <a:p>
            <a:pPr marL="254000" indent="-254000" algn="l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Honest note: my first version showed 4.3x. It was a size confound. The real number is 2.1x.</a:t>
            </a:r>
            <a:endParaRPr lang="en-US" sz="2000" dirty="0"/>
          </a:p>
        </p:txBody>
      </p:sp>
      <p:pic>
        <p:nvPicPr>
          <p:cNvPr id="4" name="Image 0" descr="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828800"/>
            <a:ext cx="4937760" cy="3703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419088"/>
            <a:ext cx="12161520" cy="438912"/>
          </a:xfrm>
          <a:prstGeom prst="rect">
            <a:avLst/>
          </a:prstGeom>
          <a:solidFill>
            <a:srgbClr val="0F6E6A"/>
          </a:solidFill>
          <a:ln/>
        </p:spPr>
      </p:sp>
      <p:sp>
        <p:nvSpPr>
          <p:cNvPr id="6" name="Text 3"/>
          <p:cNvSpPr/>
          <p:nvPr/>
        </p:nvSpPr>
        <p:spPr>
          <a:xfrm>
            <a:off x="320040" y="6446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183880" y="64465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Cotiviti Intern Screening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6E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972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just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anomaly is not the same as fraud. The top flag in my run was a legitimate high-intensity specialist.</a:t>
            </a:r>
            <a:endParaRPr lang="en-US" sz="2100" dirty="0"/>
          </a:p>
          <a:p>
            <a:pPr marL="254000" indent="-254000" algn="just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 is no specialty grouping yet, so genuinely high-cost providers get flagged.</a:t>
            </a:r>
            <a:endParaRPr lang="en-US" sz="2100" dirty="0"/>
          </a:p>
          <a:p>
            <a:pPr marL="254000" indent="-254000" algn="just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fraudster who bills close to the average slips right past an outlier screen.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6419088"/>
            <a:ext cx="12161520" cy="438912"/>
          </a:xfrm>
          <a:prstGeom prst="rect">
            <a:avLst/>
          </a:prstGeom>
          <a:solidFill>
            <a:srgbClr val="0F6E6A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6446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83880" y="64465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Cotiviti Intern Screening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6E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Options for Cotiviti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972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just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 Use it as a triage layer on top of the existing review queue.</a:t>
            </a:r>
            <a:endParaRPr lang="en-US" sz="2100" dirty="0"/>
          </a:p>
          <a:p>
            <a:pPr marL="254000" indent="-254000" algn="just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 Add the explanation step to speed up and document reviews.</a:t>
            </a:r>
            <a:endParaRPr lang="en-US" sz="2100" dirty="0"/>
          </a:p>
          <a:p>
            <a:pPr marL="254000" indent="-254000" algn="just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 Cut false positives by grouping providers on specialty and region.</a:t>
            </a:r>
            <a:endParaRPr lang="en-US" sz="2100" dirty="0"/>
          </a:p>
          <a:p>
            <a:pPr marL="254000" indent="-254000" algn="just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 with A and B on a single claim type, measure the lift, then invest in C.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6419088"/>
            <a:ext cx="12161520" cy="438912"/>
          </a:xfrm>
          <a:prstGeom prst="rect">
            <a:avLst/>
          </a:prstGeom>
          <a:solidFill>
            <a:srgbClr val="0F6E6A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6446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83880" y="64465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Cotiviti Intern Screening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6E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972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just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unsupervised screen that works from behavior alone, and explains itself.</a:t>
            </a:r>
            <a:endParaRPr lang="en-US" sz="2100" dirty="0"/>
          </a:p>
          <a:p>
            <a:pPr marL="254000" indent="-254000" algn="just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Near term, it is a screen-and-explain layer on top of existing review.</a:t>
            </a:r>
            <a:endParaRPr lang="en-US" sz="2100" dirty="0"/>
          </a:p>
          <a:p>
            <a:pPr marL="254000" indent="-254000" algn="just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Longer term, the same approach can move earlier, before a payment goes out.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6419088"/>
            <a:ext cx="12161520" cy="438912"/>
          </a:xfrm>
          <a:prstGeom prst="rect">
            <a:avLst/>
          </a:prstGeom>
          <a:solidFill>
            <a:srgbClr val="0F6E6A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6446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83880" y="64465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Cotiviti Intern Screening</a:t>
            </a:r>
            <a:endParaRPr lang="en-US" sz="12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47</TotalTime>
  <Words>503</Words>
  <Application>Microsoft Office PowerPoint</Application>
  <PresentationFormat>Widescreen</PresentationFormat>
  <Paragraphs>76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Cambria</vt:lpstr>
      <vt:lpstr>Century Gothic</vt:lpstr>
      <vt:lpstr>Times New Roman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Claims Anomaly Screening</dc:title>
  <dc:subject>PptxGenJS Presentation</dc:subject>
  <dc:creator>Mokshit Palleboina</dc:creator>
  <cp:lastModifiedBy>P Mokshit Anjani Sreekar</cp:lastModifiedBy>
  <cp:revision>2</cp:revision>
  <dcterms:created xsi:type="dcterms:W3CDTF">2026-06-28T02:27:52Z</dcterms:created>
  <dcterms:modified xsi:type="dcterms:W3CDTF">2026-06-28T08:55:39Z</dcterms:modified>
</cp:coreProperties>
</file>